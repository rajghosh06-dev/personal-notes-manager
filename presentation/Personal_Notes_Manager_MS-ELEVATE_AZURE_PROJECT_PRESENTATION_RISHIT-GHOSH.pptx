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</p:sldMasterIdLst>
  <p:notesMasterIdLst>
    <p:notesMasterId r:id="rId14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77" r:id="rId10"/>
    <p:sldId id="579" r:id="rId11"/>
    <p:sldId id="578" r:id="rId12"/>
    <p:sldId id="53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73818" autoAdjust="0"/>
  </p:normalViewPr>
  <p:slideViewPr>
    <p:cSldViewPr snapToGrid="0">
      <p:cViewPr varScale="1">
        <p:scale>
          <a:sx n="71" d="100"/>
          <a:sy n="71" d="100"/>
        </p:scale>
        <p:origin x="388" y="44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20 January 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33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266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8B07-5A8B-12D3-48D5-B8315D13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B6700-05A0-7411-109E-A374569B6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8D759-B238-4D1C-A179-63DF885F6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31F17-191B-CFE4-28A8-DF229B949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6854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4062684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909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4273-D1B2-B5DA-BF7E-9FF169DF6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EE723-48AC-C184-D51D-DB184D9E4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217C-58BE-CEDC-FE42-FFECCA16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20 January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67DFB-4595-5610-E73D-EA112439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5188B-8994-FE2D-E924-64F2FB541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92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92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885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710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229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70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7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E36FD2-5CF9-42B6-267C-75A9A8826A1C}"/>
              </a:ext>
            </a:extLst>
          </p:cNvPr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F6CF07-40A9-24A4-F336-0BDA8D93267D}"/>
              </a:ext>
            </a:extLst>
          </p:cNvPr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66C649D9-DD8B-5B7D-F409-A3797AEF3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  <p:extLst>
      <p:ext uri="{BB962C8B-B14F-4D97-AF65-F5344CB8AC3E}">
        <p14:creationId xmlns:p14="http://schemas.microsoft.com/office/powerpoint/2010/main" val="3478975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5" r:id="rId2"/>
    <p:sldLayoutId id="2147483666" r:id="rId3"/>
    <p:sldLayoutId id="2147483667" r:id="rId4"/>
    <p:sldLayoutId id="2147483668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17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jghosh06-dev/personal-notes-manager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40A069D-B6C2-7B0A-6719-9C65A27E0952}"/>
              </a:ext>
            </a:extLst>
          </p:cNvPr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C78EFA-3B33-383D-31A6-F48EC0533950}"/>
              </a:ext>
            </a:extLst>
          </p:cNvPr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D7732-9B23-40F7-1FF7-FD50BDC193D8}"/>
              </a:ext>
            </a:extLst>
          </p:cNvPr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A2A85-6D5C-2987-0FF8-3AF240456D3B}"/>
              </a:ext>
            </a:extLst>
          </p:cNvPr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4D362339-2CD4-BEA9-8BCD-81A300A3C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837936-4230-3A98-A2A1-6E77E027B36D}"/>
              </a:ext>
            </a:extLst>
          </p:cNvPr>
          <p:cNvSpPr>
            <a:spLocks noGrp="1"/>
          </p:cNvSpPr>
          <p:nvPr/>
        </p:nvSpPr>
        <p:spPr>
          <a:xfrm>
            <a:off x="517379" y="1343054"/>
            <a:ext cx="4746772" cy="25067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 dirty="0">
                <a:latin typeface="+mj-lt"/>
                <a:ea typeface="+mj-ea"/>
                <a:cs typeface="+mj-cs"/>
              </a:rPr>
              <a:t>CAPSTONE </a:t>
            </a:r>
            <a:r>
              <a:rPr lang="en-US" sz="2800" b="1" dirty="0"/>
              <a:t>PROJECT</a:t>
            </a:r>
            <a:endParaRPr lang="en-US" sz="5100" dirty="0">
              <a:latin typeface="Aptos"/>
            </a:endParaRPr>
          </a:p>
          <a:p>
            <a:pPr algn="l"/>
            <a:br>
              <a:rPr lang="en-US" sz="5100" b="1" dirty="0"/>
            </a:br>
            <a:r>
              <a:rPr lang="en-US" sz="2400" b="1" cap="all" dirty="0">
                <a:latin typeface="Aptos"/>
              </a:rPr>
              <a:t>Personal Notes Manager</a:t>
            </a:r>
            <a:endParaRPr lang="en-US" sz="5100" dirty="0">
              <a:latin typeface="Aptos"/>
            </a:endParaRPr>
          </a:p>
          <a:p>
            <a:pPr algn="l"/>
            <a:endParaRPr lang="en-US" sz="5100" b="1" kern="12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A663A0C-3931-F8E6-391C-2FF1FDBB09CD}"/>
              </a:ext>
            </a:extLst>
          </p:cNvPr>
          <p:cNvSpPr>
            <a:spLocks noGrp="1"/>
          </p:cNvSpPr>
          <p:nvPr/>
        </p:nvSpPr>
        <p:spPr>
          <a:xfrm>
            <a:off x="594127" y="3739889"/>
            <a:ext cx="4166512" cy="240093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</a:t>
            </a:r>
            <a:r>
              <a:rPr lang="en-US" sz="1600" cap="all" dirty="0"/>
              <a:t>Rishit GHOSH</a:t>
            </a:r>
            <a:endParaRPr lang="en-US" sz="1600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</a:t>
            </a:r>
            <a:r>
              <a:rPr lang="en-US" sz="1600" dirty="0"/>
              <a:t>Geethanjali College of Engineering and Technology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</a:t>
            </a:r>
            <a:r>
              <a:rPr lang="en-US" sz="1600" dirty="0"/>
              <a:t>CSE – AI&amp;ML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 </a:t>
            </a:r>
            <a:r>
              <a:rPr lang="en-US" sz="1600" dirty="0"/>
              <a:t>rishitghosh06@gmail.com</a:t>
            </a:r>
            <a:endParaRPr lang="en-US" sz="1600" cap="al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88F3F-AD4C-81EA-1336-D2C00EFCC4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172"/>
          <a:stretch>
            <a:fillRect/>
          </a:stretch>
        </p:blipFill>
        <p:spPr>
          <a:xfrm>
            <a:off x="6852384" y="963029"/>
            <a:ext cx="3705996" cy="441579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1033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0E59-694D-9DFE-4488-37D5F2F48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985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5400" b="1" cap="all" dirty="0">
                <a:latin typeface="Arial"/>
                <a:cs typeface="Arial"/>
              </a:rPr>
              <a:t>OUTLINE:</a:t>
            </a:r>
            <a:endParaRPr lang="en-US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4173D-62A9-AF06-B476-EEB82708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387" y="18222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Problem Statement </a:t>
            </a:r>
            <a:r>
              <a:rPr lang="en-US" sz="2200">
                <a:latin typeface="Arial"/>
                <a:cs typeface="Arial"/>
              </a:rPr>
              <a:t>(Should not include solution)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Proposed System/Solution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System Development Approach </a:t>
            </a:r>
            <a:r>
              <a:rPr lang="en-US" sz="2200">
                <a:latin typeface="Arial"/>
                <a:cs typeface="Arial"/>
              </a:rPr>
              <a:t>(Technology Used) 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Algorithm &amp; Deployment  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Result (Output Image)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Conclusion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Future Scope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References</a:t>
            </a:r>
            <a:endParaRPr lang="en-US" sz="2200">
              <a:latin typeface="Arial"/>
              <a:cs typeface="Arial"/>
            </a:endParaRPr>
          </a:p>
          <a:p>
            <a:endParaRPr lang="en-GB" sz="2200">
              <a:latin typeface="Aptos" panose="020B0004020202020204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7874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B35C-A00A-C6C7-8532-576758ED4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Problem Statement: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8C97F-5AC9-F1CA-3CCC-090D5B139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Franklin Gothic Book"/>
              </a:rPr>
              <a:t>Students and professionals often struggle to organize personal notes effectively.</a:t>
            </a:r>
          </a:p>
          <a:p>
            <a:pPr marL="0" indent="0">
              <a:buNone/>
            </a:pPr>
            <a:r>
              <a:rPr lang="en-US" sz="2200" dirty="0">
                <a:latin typeface="Franklin Gothic Book"/>
              </a:rPr>
              <a:t>Traditional paper-based or scattered digital notes lead to:</a:t>
            </a:r>
          </a:p>
          <a:p>
            <a:r>
              <a:rPr lang="en-US" sz="2200" dirty="0">
                <a:latin typeface="Franklin Gothic Book"/>
              </a:rPr>
              <a:t>Difficulty in searching specific information</a:t>
            </a:r>
          </a:p>
          <a:p>
            <a:r>
              <a:rPr lang="en-US" sz="2200" dirty="0">
                <a:latin typeface="Franklin Gothic Book"/>
              </a:rPr>
              <a:t>Lack of structured storage</a:t>
            </a:r>
          </a:p>
          <a:p>
            <a:r>
              <a:rPr lang="en-US" sz="2200" dirty="0">
                <a:latin typeface="Franklin Gothic Book"/>
              </a:rPr>
              <a:t>Risk of losing important notes</a:t>
            </a:r>
          </a:p>
          <a:p>
            <a:pPr marL="0" indent="0">
              <a:buNone/>
            </a:pPr>
            <a:r>
              <a:rPr lang="en-US" sz="2200" dirty="0">
                <a:latin typeface="Franklin Gothic Book"/>
              </a:rPr>
              <a:t>There is a need for a lightweight, reliable, and persistent system to manage notes efficiently.</a:t>
            </a:r>
          </a:p>
        </p:txBody>
      </p:sp>
    </p:spTree>
    <p:extLst>
      <p:ext uri="{BB962C8B-B14F-4D97-AF65-F5344CB8AC3E}">
        <p14:creationId xmlns:p14="http://schemas.microsoft.com/office/powerpoint/2010/main" val="3372914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7B4B1-584E-2479-D762-2265C7398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Proposed Solution: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7202D-4065-DDD7-98F1-4291C536D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075" y="1304305"/>
            <a:ext cx="8073278" cy="5257859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1600" b="1" dirty="0">
                <a:effectLst/>
              </a:rPr>
              <a:t>Overview</a:t>
            </a:r>
            <a:endParaRPr lang="en-US" sz="1600" dirty="0">
              <a:effectLst/>
            </a:endParaRPr>
          </a:p>
          <a:p>
            <a:pPr>
              <a:buNone/>
            </a:pPr>
            <a:r>
              <a:rPr lang="en-US" sz="1600" dirty="0">
                <a:effectLst/>
              </a:rPr>
              <a:t>A lightweight, command-line tool to manage personal notes with simplicity and reliability.</a:t>
            </a:r>
          </a:p>
          <a:p>
            <a:pPr>
              <a:buNone/>
            </a:pPr>
            <a:r>
              <a:rPr lang="en-US" sz="1600" b="1" dirty="0">
                <a:effectLst/>
              </a:rPr>
              <a:t>Key Features</a:t>
            </a:r>
            <a:endParaRPr lang="en-US" sz="16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Add Notes</a:t>
            </a:r>
            <a:r>
              <a:rPr lang="en-US" sz="1600" dirty="0">
                <a:effectLst/>
              </a:rPr>
              <a:t> – Quickly capture ideas or tasks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View Notes</a:t>
            </a:r>
            <a:r>
              <a:rPr lang="en-US" sz="1600" dirty="0">
                <a:effectLst/>
              </a:rPr>
              <a:t> – Display stored notes in the terminal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Search Notes</a:t>
            </a:r>
            <a:r>
              <a:rPr lang="en-US" sz="1600" dirty="0">
                <a:effectLst/>
              </a:rPr>
              <a:t> – Find notes by keywords instantly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Delete Notes</a:t>
            </a:r>
            <a:r>
              <a:rPr lang="en-US" sz="1600" dirty="0">
                <a:effectLst/>
              </a:rPr>
              <a:t> – Remove outdated or irrelevant entries</a:t>
            </a:r>
          </a:p>
          <a:p>
            <a:pPr>
              <a:buNone/>
            </a:pPr>
            <a:r>
              <a:rPr lang="en-US" sz="1600" b="1" dirty="0">
                <a:effectLst/>
              </a:rPr>
              <a:t>Technical Highlights</a:t>
            </a:r>
            <a:endParaRPr lang="en-US" sz="16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Persistent Storage</a:t>
            </a:r>
            <a:r>
              <a:rPr lang="en-US" sz="1600" dirty="0">
                <a:effectLst/>
              </a:rPr>
              <a:t> – Notes saved in JSON for durability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Modular Design</a:t>
            </a:r>
            <a:r>
              <a:rPr lang="en-US" sz="1600" dirty="0">
                <a:effectLst/>
              </a:rPr>
              <a:t> – Helper functions ensure clean, maintainable code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effectLst/>
              </a:rPr>
              <a:t>Unit Tests</a:t>
            </a:r>
            <a:r>
              <a:rPr lang="en-US" sz="1600" dirty="0">
                <a:effectLst/>
              </a:rPr>
              <a:t> – Guarantee correctness and reliability</a:t>
            </a:r>
          </a:p>
          <a:p>
            <a:pPr>
              <a:buNone/>
            </a:pPr>
            <a:r>
              <a:rPr lang="en-US" sz="1600" b="1" dirty="0">
                <a:effectLst/>
              </a:rPr>
              <a:t>Benefits</a:t>
            </a:r>
            <a:endParaRPr lang="en-US" sz="16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</a:rPr>
              <a:t>Easy to manage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</a:rPr>
              <a:t>Fast and searchable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</a:rPr>
              <a:t>Safely stored for long-term use</a:t>
            </a:r>
          </a:p>
        </p:txBody>
      </p:sp>
    </p:spTree>
    <p:extLst>
      <p:ext uri="{BB962C8B-B14F-4D97-AF65-F5344CB8AC3E}">
        <p14:creationId xmlns:p14="http://schemas.microsoft.com/office/powerpoint/2010/main" val="204139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92D15-41B4-89C1-0EA3-03BC9FA16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99528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System  Approach: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7E8EE-7F26-D809-3523-C58876935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409" y="1398494"/>
            <a:ext cx="4666967" cy="4975412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buNone/>
            </a:pPr>
            <a:r>
              <a:rPr lang="en-IN" sz="1400" b="1" dirty="0">
                <a:effectLst/>
              </a:rPr>
              <a:t>System Requirements</a:t>
            </a:r>
            <a:endParaRPr lang="en-IN" sz="14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400" dirty="0">
                <a:effectLst/>
              </a:rPr>
              <a:t>Python </a:t>
            </a:r>
            <a:r>
              <a:rPr lang="en-IN" sz="1400" b="1" dirty="0">
                <a:effectLst/>
              </a:rPr>
              <a:t>3.10+</a:t>
            </a:r>
            <a:endParaRPr lang="en-IN" sz="14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400" dirty="0">
                <a:effectLst/>
              </a:rPr>
              <a:t>Pure Python (no external dependencies)</a:t>
            </a:r>
          </a:p>
          <a:p>
            <a:pPr>
              <a:buNone/>
            </a:pPr>
            <a:r>
              <a:rPr lang="en-IN" sz="1400" b="1" dirty="0">
                <a:effectLst/>
              </a:rPr>
              <a:t>Libraries Used</a:t>
            </a:r>
            <a:endParaRPr lang="en-IN" sz="14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 err="1">
                <a:effectLst/>
              </a:rPr>
              <a:t>json</a:t>
            </a:r>
            <a:r>
              <a:rPr lang="en-IN" sz="1400" dirty="0">
                <a:effectLst/>
              </a:rPr>
              <a:t> – Persistent storage of notes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 err="1">
                <a:effectLst/>
              </a:rPr>
              <a:t>os</a:t>
            </a:r>
            <a:r>
              <a:rPr lang="en-IN" sz="1400" dirty="0">
                <a:effectLst/>
              </a:rPr>
              <a:t> – File handling and path operations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 err="1">
                <a:effectLst/>
              </a:rPr>
              <a:t>unittest</a:t>
            </a:r>
            <a:r>
              <a:rPr lang="en-IN" sz="1400" dirty="0">
                <a:effectLst/>
              </a:rPr>
              <a:t> – Automated testing framework</a:t>
            </a:r>
          </a:p>
          <a:p>
            <a:pPr>
              <a:buNone/>
            </a:pPr>
            <a:r>
              <a:rPr lang="en-IN" sz="1400" b="1" dirty="0">
                <a:effectLst/>
              </a:rPr>
              <a:t>Folder Structure</a:t>
            </a:r>
            <a:endParaRPr lang="en-IN" sz="14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effectLst/>
              </a:rPr>
              <a:t>main-scripts/</a:t>
            </a:r>
            <a:r>
              <a:rPr lang="en-IN" sz="1400" dirty="0">
                <a:effectLst/>
              </a:rPr>
              <a:t> – Core application logic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effectLst/>
              </a:rPr>
              <a:t>utils/</a:t>
            </a:r>
            <a:r>
              <a:rPr lang="en-IN" sz="1400" dirty="0">
                <a:effectLst/>
              </a:rPr>
              <a:t> – Helper functions for file operations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effectLst/>
              </a:rPr>
              <a:t>tests/</a:t>
            </a:r>
            <a:r>
              <a:rPr lang="en-IN" sz="1400" dirty="0">
                <a:effectLst/>
              </a:rPr>
              <a:t> – Unit tests for reliability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effectLst/>
              </a:rPr>
              <a:t>exports/</a:t>
            </a:r>
            <a:r>
              <a:rPr lang="en-IN" sz="1400" dirty="0">
                <a:effectLst/>
              </a:rPr>
              <a:t> – Screenshots, PDFs, and outputs</a:t>
            </a:r>
          </a:p>
          <a:p>
            <a:pPr>
              <a:buNone/>
            </a:pPr>
            <a:r>
              <a:rPr lang="en-IN" sz="1400" b="1" dirty="0">
                <a:effectLst/>
              </a:rPr>
              <a:t>Highlights</a:t>
            </a:r>
            <a:endParaRPr lang="en-IN" sz="14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400" dirty="0">
                <a:effectLst/>
              </a:rPr>
              <a:t>Lightweight &amp; dependency-free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dirty="0">
                <a:effectLst/>
              </a:rPr>
              <a:t>Clean modular organization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dirty="0">
                <a:effectLst/>
              </a:rPr>
              <a:t>Easy to test, maintain, and extend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C0E169-37E9-5279-D6CB-4F5B9B3EF7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104" y="1398494"/>
            <a:ext cx="4276165" cy="427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125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BEE6-616C-2711-86DB-C62E77D17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Algorithm &amp; Deployment:</a:t>
            </a:r>
            <a:endParaRPr lang="en-US" sz="4000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BFCCB91-61E7-FDA2-38E6-7FF1435D2F7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66700" y="1343591"/>
            <a:ext cx="7272618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Algorithm Flow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Initialize Storage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Create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notes_storage.json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if missing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Add Note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Append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title + content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JSON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View Notes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Display all stored notes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Search Notes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Match keywords in title/content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Delete Note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Remove note by title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Deployment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Run Application</a:t>
            </a:r>
            <a:r>
              <a:rPr lang="en-US" altLang="en-US" sz="2000" dirty="0"/>
              <a:t> -&gt; “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python -m main-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scripts.notes_manager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en-US" sz="2000" dirty="0"/>
              <a:t>”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Run Tests</a:t>
            </a:r>
            <a:r>
              <a:rPr lang="en-US" altLang="en-US" sz="2000" dirty="0"/>
              <a:t> -&gt; “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python -m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unittest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tests.test_notes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en-US" sz="2000" dirty="0"/>
              <a:t>”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Highlights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Simple, intuitive workflow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CLI‑friendly execution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Reliable testing ensures stability</a:t>
            </a:r>
          </a:p>
        </p:txBody>
      </p:sp>
    </p:spTree>
    <p:extLst>
      <p:ext uri="{BB962C8B-B14F-4D97-AF65-F5344CB8AC3E}">
        <p14:creationId xmlns:p14="http://schemas.microsoft.com/office/powerpoint/2010/main" val="119908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F756E-D4E1-5A9A-636A-7FA06EC3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Result: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02C9B-C4AF-D0DB-DE74-862D98120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102" y="1266031"/>
            <a:ext cx="10515600" cy="153561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Franklin Gothic Book"/>
              </a:rPr>
              <a:t>The Personal Notes Manager successfully demonstrated all core features — Add, View, Search, and Delete — with persistent JSON storage.  </a:t>
            </a:r>
          </a:p>
          <a:p>
            <a:pPr marL="0" indent="0">
              <a:buNone/>
            </a:pPr>
            <a:r>
              <a:rPr lang="en-US" sz="2200" dirty="0">
                <a:latin typeface="Franklin Gothic Book"/>
              </a:rPr>
              <a:t>Unit tests executed with Python’s </a:t>
            </a:r>
            <a:r>
              <a:rPr lang="en-US" sz="2200" dirty="0" err="1">
                <a:latin typeface="Franklin Gothic Book"/>
              </a:rPr>
              <a:t>unittest</a:t>
            </a:r>
            <a:r>
              <a:rPr lang="en-US" sz="2200" dirty="0">
                <a:latin typeface="Franklin Gothic Book"/>
              </a:rPr>
              <a:t> framework confirmed reliable functionality and accurate data handling.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43FDEB-B02C-1AEF-8F83-2F66146ED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005044"/>
            <a:ext cx="5525653" cy="3249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9B0025-30EC-85BE-0049-55FAD5EDC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102" y="3005044"/>
            <a:ext cx="5525652" cy="32497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57779C-31FA-8016-66BF-F6B387B349E0}"/>
              </a:ext>
            </a:extLst>
          </p:cNvPr>
          <p:cNvSpPr txBox="1"/>
          <p:nvPr/>
        </p:nvSpPr>
        <p:spPr>
          <a:xfrm>
            <a:off x="1563150" y="6290609"/>
            <a:ext cx="3693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json</a:t>
            </a:r>
            <a:r>
              <a:rPr lang="en-US" dirty="0"/>
              <a:t> file where the notes are saved.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EE0EF2-ACC3-CF58-C394-B72784EBDD55}"/>
              </a:ext>
            </a:extLst>
          </p:cNvPr>
          <p:cNvSpPr txBox="1"/>
          <p:nvPr/>
        </p:nvSpPr>
        <p:spPr>
          <a:xfrm>
            <a:off x="8289831" y="6290609"/>
            <a:ext cx="1741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Code Sample.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42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396BB-D4E8-514D-53F4-27AADA666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Conclusion: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89DDB-698E-B624-5621-F9D79482F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589" y="1622391"/>
            <a:ext cx="8334564" cy="4251960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en-US" sz="1800" b="1" dirty="0">
                <a:effectLst/>
              </a:rPr>
              <a:t>Problem Solved</a:t>
            </a:r>
            <a:endParaRPr lang="en-US" sz="18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</a:rPr>
              <a:t>Tackles the issue of </a:t>
            </a:r>
            <a:r>
              <a:rPr lang="en-US" sz="1800" b="1" dirty="0">
                <a:effectLst/>
              </a:rPr>
              <a:t>scattered note‑taking</a:t>
            </a:r>
            <a:r>
              <a:rPr lang="en-US" sz="1800" dirty="0">
                <a:effectLst/>
              </a:rPr>
              <a:t> by providing a centralized, structured solution</a:t>
            </a:r>
          </a:p>
          <a:p>
            <a:pPr>
              <a:buNone/>
            </a:pPr>
            <a:r>
              <a:rPr lang="en-US" sz="1800" b="1" dirty="0">
                <a:effectLst/>
              </a:rPr>
              <a:t>Key Strengths</a:t>
            </a:r>
            <a:endParaRPr lang="en-US" sz="18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effectLst/>
              </a:rPr>
              <a:t>Lightweight</a:t>
            </a:r>
            <a:r>
              <a:rPr lang="en-US" sz="1800" dirty="0">
                <a:effectLst/>
              </a:rPr>
              <a:t> – Minimal setup, runs smoothly in any environment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effectLst/>
              </a:rPr>
              <a:t>Reliable</a:t>
            </a:r>
            <a:r>
              <a:rPr lang="en-US" sz="1800" dirty="0">
                <a:effectLst/>
              </a:rPr>
              <a:t> – JSON persistence + unit tests ensure stability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effectLst/>
              </a:rPr>
              <a:t>Easy to Use</a:t>
            </a:r>
            <a:r>
              <a:rPr lang="en-US" sz="1800" dirty="0">
                <a:effectLst/>
              </a:rPr>
              <a:t> – Simple CLI interface for quick note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>
                <a:effectLst/>
              </a:rPr>
              <a:t>Fully Tested</a:t>
            </a:r>
            <a:r>
              <a:rPr lang="en-US" sz="1800" dirty="0">
                <a:effectLst/>
              </a:rPr>
              <a:t> – Verified functionality for confidence in daily use</a:t>
            </a:r>
          </a:p>
          <a:p>
            <a:pPr>
              <a:buNone/>
            </a:pPr>
            <a:r>
              <a:rPr lang="en-US" sz="1800" b="1" dirty="0">
                <a:effectLst/>
              </a:rPr>
              <a:t>Outcome</a:t>
            </a:r>
            <a:endParaRPr lang="en-US" sz="18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</a:rPr>
              <a:t>Demonstrates </a:t>
            </a:r>
            <a:r>
              <a:rPr lang="en-US" sz="1800" b="1" dirty="0">
                <a:effectLst/>
              </a:rPr>
              <a:t>practical application of Python</a:t>
            </a:r>
            <a:r>
              <a:rPr lang="en-US" sz="1800" dirty="0">
                <a:effectLst/>
              </a:rPr>
              <a:t> for workflow automation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</a:rPr>
              <a:t>Enhances productivity through organized, searchable, and secure notes</a:t>
            </a:r>
          </a:p>
        </p:txBody>
      </p:sp>
    </p:spTree>
    <p:extLst>
      <p:ext uri="{BB962C8B-B14F-4D97-AF65-F5344CB8AC3E}">
        <p14:creationId xmlns:p14="http://schemas.microsoft.com/office/powerpoint/2010/main" val="2245309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403C0-6D6C-CF0D-D01B-94F3DED1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Future scope: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C79AB-5BF9-3911-CAE8-5E44B0DF2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071" y="130443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en-IN" sz="1800" b="1" dirty="0">
                <a:effectLst/>
              </a:rPr>
              <a:t>Planned Features</a:t>
            </a:r>
            <a:endParaRPr lang="en-IN" sz="18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800" b="1" dirty="0">
                <a:effectLst/>
              </a:rPr>
              <a:t>Timestamps on Notes</a:t>
            </a:r>
            <a:r>
              <a:rPr lang="en-IN" sz="1800" dirty="0">
                <a:effectLst/>
              </a:rPr>
              <a:t> – Automatically record creation and update times for better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b="1" dirty="0">
                <a:effectLst/>
              </a:rPr>
              <a:t>Export to PDF</a:t>
            </a:r>
            <a:r>
              <a:rPr lang="en-IN" sz="1800" dirty="0">
                <a:effectLst/>
              </a:rPr>
              <a:t> – Generate shareable, professional note documents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b="1" dirty="0">
                <a:effectLst/>
              </a:rPr>
              <a:t>GUI Interface</a:t>
            </a:r>
            <a:r>
              <a:rPr lang="en-IN" sz="1800" dirty="0">
                <a:effectLst/>
              </a:rPr>
              <a:t> – User‑friendly front end via </a:t>
            </a:r>
            <a:r>
              <a:rPr lang="en-IN" sz="1800" b="1" dirty="0" err="1">
                <a:effectLst/>
              </a:rPr>
              <a:t>Tkinter</a:t>
            </a:r>
            <a:r>
              <a:rPr lang="en-IN" sz="1800" dirty="0">
                <a:effectLst/>
              </a:rPr>
              <a:t> (desktop) or </a:t>
            </a:r>
            <a:r>
              <a:rPr lang="en-IN" sz="1800" b="1" dirty="0">
                <a:effectLst/>
              </a:rPr>
              <a:t>Flask</a:t>
            </a:r>
            <a:r>
              <a:rPr lang="en-IN" sz="1800" dirty="0">
                <a:effectLst/>
              </a:rPr>
              <a:t> (web)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b="1" dirty="0">
                <a:effectLst/>
              </a:rPr>
              <a:t>Cloud Integration</a:t>
            </a:r>
            <a:r>
              <a:rPr lang="en-IN" sz="1800" dirty="0">
                <a:effectLst/>
              </a:rPr>
              <a:t> – Sync and access notes anywhere using </a:t>
            </a:r>
            <a:r>
              <a:rPr lang="en-IN" sz="1800" b="1" dirty="0">
                <a:effectLst/>
              </a:rPr>
              <a:t>Azure Functions</a:t>
            </a:r>
            <a:endParaRPr lang="en-IN" sz="18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800" b="1" dirty="0">
                <a:effectLst/>
              </a:rPr>
              <a:t>Copilot Integration</a:t>
            </a:r>
            <a:r>
              <a:rPr lang="en-IN" sz="1800" dirty="0">
                <a:effectLst/>
              </a:rPr>
              <a:t> – Smart suggestions to improve note organization and productivity</a:t>
            </a:r>
          </a:p>
          <a:p>
            <a:pPr>
              <a:buNone/>
            </a:pPr>
            <a:r>
              <a:rPr lang="en-IN" sz="1800" b="1" dirty="0">
                <a:effectLst/>
              </a:rPr>
              <a:t>Impact</a:t>
            </a:r>
            <a:endParaRPr lang="en-IN" sz="1800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>
                <a:effectLst/>
              </a:rPr>
              <a:t>Enhances usability with multiple interfaces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>
                <a:effectLst/>
              </a:rPr>
              <a:t>Enables portability and sharing of notes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>
                <a:effectLst/>
              </a:rPr>
              <a:t>Provides intelligent assistance for smarter workflows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800" dirty="0">
                <a:effectLst/>
              </a:rPr>
              <a:t>Scales from personal use to cloud‑connected productivity</a:t>
            </a:r>
          </a:p>
        </p:txBody>
      </p:sp>
    </p:spTree>
    <p:extLst>
      <p:ext uri="{BB962C8B-B14F-4D97-AF65-F5344CB8AC3E}">
        <p14:creationId xmlns:p14="http://schemas.microsoft.com/office/powerpoint/2010/main" val="3744199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7BEC-26CE-96DB-DC10-B2897FA5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References:</a:t>
            </a:r>
            <a:endParaRPr lang="en-US" sz="40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1CC0223-DAF0-DE6C-855C-8D49DC1B10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6474" y="1544427"/>
            <a:ext cx="1057212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 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json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(docs.python.org in Bing) – JSON encoder/decoder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(docs.python.org in Bing) – Miscellaneous operating system interfaces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unittest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(docs.python.org in Bing) – Unit testing framework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GitHub Repository –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2"/>
              </a:rPr>
              <a:t>Click here</a:t>
            </a:r>
            <a:r>
              <a:rPr lang="en-US" altLang="en-US" sz="1800" b="1" dirty="0">
                <a:latin typeface="Arial" panose="020B0604020202020204" pitchFamily="34" charset="0"/>
              </a:rPr>
              <a:t> [https://github.com/rajghosh06-dev/personal-notes-manager]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1700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43E5-DB51-E32C-9252-0ED5EF28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E97B5AD-3B10-086C-32EF-8A2EAD5287C2}"/>
              </a:ext>
            </a:extLst>
          </p:cNvPr>
          <p:cNvSpPr txBox="1">
            <a:spLocks/>
          </p:cNvSpPr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>
              <a:buFont typeface="Arial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FC7433E-E155-E68D-4C00-FCB38967C6F9}"/>
              </a:ext>
            </a:extLst>
          </p:cNvPr>
          <p:cNvSpPr txBox="1">
            <a:spLocks/>
          </p:cNvSpPr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>
                <a:solidFill>
                  <a:srgbClr val="002060"/>
                </a:solidFill>
                <a:latin typeface="Arial"/>
                <a:cs typeface="Arial"/>
              </a:rPr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46020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691</Words>
  <Application>Microsoft Office PowerPoint</Application>
  <PresentationFormat>Widescreen</PresentationFormat>
  <Paragraphs>110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Conclusion:</vt:lpstr>
      <vt:lpstr>Future scope:</vt:lpstr>
      <vt:lpstr>References: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RISHIT GHOSH</cp:lastModifiedBy>
  <cp:revision>115</cp:revision>
  <dcterms:created xsi:type="dcterms:W3CDTF">2024-05-21T11:55:07Z</dcterms:created>
  <dcterms:modified xsi:type="dcterms:W3CDTF">2026-01-20T15:45:43Z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</Properties>
</file>