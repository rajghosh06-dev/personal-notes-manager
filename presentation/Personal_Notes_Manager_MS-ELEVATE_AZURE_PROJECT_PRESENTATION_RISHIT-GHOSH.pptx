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>
      <p:cViewPr varScale="1">
        <p:scale>
          <a:sx n="71" d="100"/>
          <a:sy n="71" d="100"/>
        </p:scale>
        <p:origin x="388" y="44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20 January 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20 January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jghosh06-dev/personal-notes-manager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2400" b="1" cap="all" dirty="0">
                <a:latin typeface="Aptos"/>
              </a:rPr>
              <a:t>Personal Notes Manager</a:t>
            </a:r>
            <a:endParaRPr lang="en-US" sz="51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739889"/>
            <a:ext cx="4166512" cy="24009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</a:t>
            </a:r>
            <a:r>
              <a:rPr lang="en-US" sz="1600" cap="all" dirty="0"/>
              <a:t>Rishit GHOSH</a:t>
            </a:r>
            <a:endParaRPr lang="en-US" sz="1600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</a:t>
            </a:r>
            <a:r>
              <a:rPr lang="en-US" sz="1600" dirty="0"/>
              <a:t>Geethanjali College of Engineering and Technology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</a:t>
            </a:r>
            <a:r>
              <a:rPr lang="en-US" sz="1600" dirty="0"/>
              <a:t>CSE – AI&amp;ML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</a:t>
            </a:r>
            <a:r>
              <a:rPr lang="en-US" sz="1600" dirty="0"/>
              <a:t>rishitghosh06@gmail.com</a:t>
            </a:r>
            <a:endParaRPr lang="en-US" sz="1600" cap="al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88F3F-AD4C-81EA-1336-D2C00EFCC4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72"/>
          <a:stretch>
            <a:fillRect/>
          </a:stretch>
        </p:blipFill>
        <p:spPr>
          <a:xfrm>
            <a:off x="6852384" y="963029"/>
            <a:ext cx="3705996" cy="44157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Problem Statement </a:t>
            </a:r>
            <a:r>
              <a:rPr lang="en-US" sz="2200">
                <a:latin typeface="Arial"/>
                <a:cs typeface="Arial"/>
              </a:rPr>
              <a:t>(Should not include solution)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Proposed System/Solution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System Development Approach </a:t>
            </a:r>
            <a:r>
              <a:rPr lang="en-US" sz="2200">
                <a:latin typeface="Arial"/>
                <a:cs typeface="Arial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Algorithm &amp; Deployment  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Result (Output Image)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Conclusion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Future Scope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References</a:t>
            </a:r>
            <a:endParaRPr lang="en-US" sz="2200">
              <a:latin typeface="Arial"/>
              <a:cs typeface="Arial"/>
            </a:endParaRPr>
          </a:p>
          <a:p>
            <a:endParaRPr lang="en-GB" sz="220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Problem Statement: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Franklin Gothic Book"/>
              </a:rPr>
              <a:t>Students and professionals often struggle to organize personal notes effectively.</a:t>
            </a:r>
          </a:p>
          <a:p>
            <a:pPr marL="0" indent="0">
              <a:buNone/>
            </a:pPr>
            <a:r>
              <a:rPr lang="en-US" sz="2200" dirty="0">
                <a:latin typeface="Franklin Gothic Book"/>
              </a:rPr>
              <a:t>Traditional paper-based or scattered digital notes lead to:</a:t>
            </a:r>
          </a:p>
          <a:p>
            <a:r>
              <a:rPr lang="en-US" sz="2200" dirty="0">
                <a:latin typeface="Franklin Gothic Book"/>
              </a:rPr>
              <a:t>Difficulty in searching specific information</a:t>
            </a:r>
          </a:p>
          <a:p>
            <a:r>
              <a:rPr lang="en-US" sz="2200" dirty="0">
                <a:latin typeface="Franklin Gothic Book"/>
              </a:rPr>
              <a:t>Lack of structured storage</a:t>
            </a:r>
          </a:p>
          <a:p>
            <a:r>
              <a:rPr lang="en-US" sz="2200" dirty="0">
                <a:latin typeface="Franklin Gothic Book"/>
              </a:rPr>
              <a:t>Risk of losing important notes</a:t>
            </a:r>
          </a:p>
          <a:p>
            <a:pPr marL="0" indent="0">
              <a:buNone/>
            </a:pPr>
            <a:r>
              <a:rPr lang="en-US" sz="2200" dirty="0">
                <a:latin typeface="Franklin Gothic Book"/>
              </a:rPr>
              <a:t>There is a need for a lightweight, reliable, and persistent system to manage notes efficiently.</a:t>
            </a: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304305"/>
            <a:ext cx="8073278" cy="525785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 b="1" dirty="0">
                <a:effectLst/>
              </a:rPr>
              <a:t>Overview</a:t>
            </a:r>
            <a:endParaRPr lang="en-US" sz="1600" dirty="0">
              <a:effectLst/>
            </a:endParaRPr>
          </a:p>
          <a:p>
            <a:pPr>
              <a:buNone/>
            </a:pPr>
            <a:r>
              <a:rPr lang="en-US" sz="1600" dirty="0">
                <a:effectLst/>
              </a:rPr>
              <a:t>A lightweight, command-line tool to manage personal notes with simplicity and reliability.</a:t>
            </a:r>
          </a:p>
          <a:p>
            <a:pPr>
              <a:buNone/>
            </a:pPr>
            <a:r>
              <a:rPr lang="en-US" sz="1600" b="1" dirty="0">
                <a:effectLst/>
              </a:rPr>
              <a:t>Key Features</a:t>
            </a:r>
            <a:endParaRPr lang="en-US" sz="16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Add Notes</a:t>
            </a:r>
            <a:r>
              <a:rPr lang="en-US" sz="1600" dirty="0">
                <a:effectLst/>
              </a:rPr>
              <a:t> – Quickly capture ideas or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View Notes</a:t>
            </a:r>
            <a:r>
              <a:rPr lang="en-US" sz="1600" dirty="0">
                <a:effectLst/>
              </a:rPr>
              <a:t> – Display stored notes in the terminal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Search Notes</a:t>
            </a:r>
            <a:r>
              <a:rPr lang="en-US" sz="1600" dirty="0">
                <a:effectLst/>
              </a:rPr>
              <a:t> – Find notes by keywords instantly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Delete Notes</a:t>
            </a:r>
            <a:r>
              <a:rPr lang="en-US" sz="1600" dirty="0">
                <a:effectLst/>
              </a:rPr>
              <a:t> – Remove outdated or irrelevant entries</a:t>
            </a:r>
          </a:p>
          <a:p>
            <a:pPr>
              <a:buNone/>
            </a:pPr>
            <a:r>
              <a:rPr lang="en-US" sz="1600" b="1" dirty="0">
                <a:effectLst/>
              </a:rPr>
              <a:t>Technical Highlights</a:t>
            </a:r>
            <a:endParaRPr lang="en-US" sz="16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Persistent Storage</a:t>
            </a:r>
            <a:r>
              <a:rPr lang="en-US" sz="1600" dirty="0">
                <a:effectLst/>
              </a:rPr>
              <a:t> – Notes saved in JSON for durability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Modular Design</a:t>
            </a:r>
            <a:r>
              <a:rPr lang="en-US" sz="1600" dirty="0">
                <a:effectLst/>
              </a:rPr>
              <a:t> – Helper functions ensure clean, maintainable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Unit Tests</a:t>
            </a:r>
            <a:r>
              <a:rPr lang="en-US" sz="1600" dirty="0">
                <a:effectLst/>
              </a:rPr>
              <a:t> – Guarantee correctness and reliability</a:t>
            </a:r>
          </a:p>
          <a:p>
            <a:pPr>
              <a:buNone/>
            </a:pPr>
            <a:r>
              <a:rPr lang="en-US" sz="1600" b="1" dirty="0">
                <a:effectLst/>
              </a:rPr>
              <a:t>Benefits</a:t>
            </a:r>
            <a:endParaRPr lang="en-US" sz="16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Easy to manage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Fast and searchable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Safely stored for long-term use</a:t>
            </a: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09" y="1398494"/>
            <a:ext cx="4666967" cy="497541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buNone/>
            </a:pPr>
            <a:r>
              <a:rPr lang="en-IN" sz="1400" b="1" dirty="0">
                <a:effectLst/>
              </a:rPr>
              <a:t>System Requirements</a:t>
            </a:r>
            <a:endParaRPr lang="en-IN" sz="14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Python </a:t>
            </a:r>
            <a:r>
              <a:rPr lang="en-IN" sz="1400" b="1" dirty="0">
                <a:effectLst/>
              </a:rPr>
              <a:t>3.10+</a:t>
            </a:r>
            <a:endParaRPr lang="en-IN" sz="14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Pure Python (no external dependencies)</a:t>
            </a:r>
          </a:p>
          <a:p>
            <a:pPr>
              <a:buNone/>
            </a:pPr>
            <a:r>
              <a:rPr lang="en-IN" sz="1400" b="1" dirty="0">
                <a:effectLst/>
              </a:rPr>
              <a:t>Libraries Used</a:t>
            </a:r>
            <a:endParaRPr lang="en-IN" sz="14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 err="1">
                <a:effectLst/>
              </a:rPr>
              <a:t>json</a:t>
            </a:r>
            <a:r>
              <a:rPr lang="en-IN" sz="1400" dirty="0">
                <a:effectLst/>
              </a:rPr>
              <a:t> – Persistent storage of notes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 err="1">
                <a:effectLst/>
              </a:rPr>
              <a:t>os</a:t>
            </a:r>
            <a:r>
              <a:rPr lang="en-IN" sz="1400" dirty="0">
                <a:effectLst/>
              </a:rPr>
              <a:t> – File handling and path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 err="1">
                <a:effectLst/>
              </a:rPr>
              <a:t>unittest</a:t>
            </a:r>
            <a:r>
              <a:rPr lang="en-IN" sz="1400" dirty="0">
                <a:effectLst/>
              </a:rPr>
              <a:t> – Automated testing framework</a:t>
            </a:r>
          </a:p>
          <a:p>
            <a:pPr>
              <a:buNone/>
            </a:pPr>
            <a:r>
              <a:rPr lang="en-IN" sz="1400" b="1" dirty="0">
                <a:effectLst/>
              </a:rPr>
              <a:t>Folder Structure</a:t>
            </a:r>
            <a:endParaRPr lang="en-IN" sz="14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</a:rPr>
              <a:t>main-scripts/</a:t>
            </a:r>
            <a:r>
              <a:rPr lang="en-IN" sz="1400" dirty="0">
                <a:effectLst/>
              </a:rPr>
              <a:t> – Core application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</a:rPr>
              <a:t>utils/</a:t>
            </a:r>
            <a:r>
              <a:rPr lang="en-IN" sz="1400" dirty="0">
                <a:effectLst/>
              </a:rPr>
              <a:t> – Helper functions for file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</a:rPr>
              <a:t>tests/</a:t>
            </a:r>
            <a:r>
              <a:rPr lang="en-IN" sz="1400" dirty="0">
                <a:effectLst/>
              </a:rPr>
              <a:t> – Unit tests for reliability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</a:rPr>
              <a:t>exports/</a:t>
            </a:r>
            <a:r>
              <a:rPr lang="en-IN" sz="1400" dirty="0">
                <a:effectLst/>
              </a:rPr>
              <a:t> – Screenshots, PDFs, and outputs</a:t>
            </a:r>
          </a:p>
          <a:p>
            <a:pPr>
              <a:buNone/>
            </a:pPr>
            <a:r>
              <a:rPr lang="en-IN" sz="1400" b="1" dirty="0">
                <a:effectLst/>
              </a:rPr>
              <a:t>Highlights</a:t>
            </a:r>
            <a:endParaRPr lang="en-IN" sz="14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Lightweight &amp; dependency-free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Clean modular organization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Easy to test, maintain, and extend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C0E169-37E9-5279-D6CB-4F5B9B3EF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104" y="1398494"/>
            <a:ext cx="4276165" cy="427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BFCCB91-61E7-FDA2-38E6-7FF1435D2F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6700" y="1343591"/>
            <a:ext cx="727261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Algorithm Flow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Initialize Storage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Create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notes_storage.json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missing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Note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Append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title + content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JSON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View Notes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Display all stored notes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Search Notes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Match keywords in title/content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Delete Note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Remove note by title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Deployment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Run Application</a:t>
            </a:r>
            <a:r>
              <a:rPr lang="en-US" altLang="en-US" sz="2000" dirty="0"/>
              <a:t> -&gt; “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 -m main-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scripts.notes_manager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2000" dirty="0"/>
              <a:t>”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Run Tests</a:t>
            </a:r>
            <a:r>
              <a:rPr lang="en-US" altLang="en-US" sz="2000" dirty="0"/>
              <a:t> -&gt; “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 -m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unittest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tests.test_notes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2000" dirty="0"/>
              <a:t>”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Highlights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Simple, intuitive workflow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CLI‑friendly execution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Reliable testing ensures stability</a:t>
            </a:r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2C9B-C4AF-D0DB-DE74-862D9812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02" y="1266031"/>
            <a:ext cx="10515600" cy="153561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Franklin Gothic Book"/>
              </a:rPr>
              <a:t>The Personal Notes Manager successfully demonstrated all core features — Add, View, Search, and Delete — with persistent JSON storage.  </a:t>
            </a:r>
          </a:p>
          <a:p>
            <a:pPr marL="0" indent="0">
              <a:buNone/>
            </a:pPr>
            <a:r>
              <a:rPr lang="en-US" sz="2200" dirty="0">
                <a:latin typeface="Franklin Gothic Book"/>
              </a:rPr>
              <a:t>Unit tests executed with Python’s </a:t>
            </a:r>
            <a:r>
              <a:rPr lang="en-US" sz="2200" dirty="0" err="1">
                <a:latin typeface="Franklin Gothic Book"/>
              </a:rPr>
              <a:t>unittest</a:t>
            </a:r>
            <a:r>
              <a:rPr lang="en-US" sz="2200" dirty="0">
                <a:latin typeface="Franklin Gothic Book"/>
              </a:rPr>
              <a:t> framework confirmed reliable functionality and accurate data handling.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43FDEB-B02C-1AEF-8F83-2F66146ED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05044"/>
            <a:ext cx="5525653" cy="3249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9B0025-30EC-85BE-0049-55FAD5EDC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02" y="3005044"/>
            <a:ext cx="5525652" cy="32497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57779C-31FA-8016-66BF-F6B387B349E0}"/>
              </a:ext>
            </a:extLst>
          </p:cNvPr>
          <p:cNvSpPr txBox="1"/>
          <p:nvPr/>
        </p:nvSpPr>
        <p:spPr>
          <a:xfrm>
            <a:off x="1563150" y="6290609"/>
            <a:ext cx="369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  <a:r>
              <a:rPr lang="en-US" dirty="0" err="1"/>
              <a:t>json</a:t>
            </a:r>
            <a:r>
              <a:rPr lang="en-US" dirty="0"/>
              <a:t> file where the notes are saved.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E0EF2-ACC3-CF58-C394-B72784EBDD55}"/>
              </a:ext>
            </a:extLst>
          </p:cNvPr>
          <p:cNvSpPr txBox="1"/>
          <p:nvPr/>
        </p:nvSpPr>
        <p:spPr>
          <a:xfrm>
            <a:off x="8289831" y="6290609"/>
            <a:ext cx="174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Sample.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89" y="1622391"/>
            <a:ext cx="8334564" cy="42519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1800" b="1" dirty="0">
                <a:effectLst/>
              </a:rPr>
              <a:t>Problem Solved</a:t>
            </a:r>
            <a:endParaRPr lang="en-US" sz="18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Tackles the issue of </a:t>
            </a:r>
            <a:r>
              <a:rPr lang="en-US" sz="1800" b="1" dirty="0">
                <a:effectLst/>
              </a:rPr>
              <a:t>scattered note‑taking</a:t>
            </a:r>
            <a:r>
              <a:rPr lang="en-US" sz="1800" dirty="0">
                <a:effectLst/>
              </a:rPr>
              <a:t> by providing a centralized, structured solution</a:t>
            </a:r>
          </a:p>
          <a:p>
            <a:pPr>
              <a:buNone/>
            </a:pPr>
            <a:r>
              <a:rPr lang="en-US" sz="1800" b="1" dirty="0">
                <a:effectLst/>
              </a:rPr>
              <a:t>Key Strengths</a:t>
            </a:r>
            <a:endParaRPr lang="en-US" sz="18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Lightweight</a:t>
            </a:r>
            <a:r>
              <a:rPr lang="en-US" sz="1800" dirty="0">
                <a:effectLst/>
              </a:rPr>
              <a:t> – Minimal setup, runs smoothly in any environment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Reliable</a:t>
            </a:r>
            <a:r>
              <a:rPr lang="en-US" sz="1800" dirty="0">
                <a:effectLst/>
              </a:rPr>
              <a:t> – JSON persistence + unit tests ensure stability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Easy to Use</a:t>
            </a:r>
            <a:r>
              <a:rPr lang="en-US" sz="1800" dirty="0">
                <a:effectLst/>
              </a:rPr>
              <a:t> – Simple CLI interface for quick note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Fully Tested</a:t>
            </a:r>
            <a:r>
              <a:rPr lang="en-US" sz="1800" dirty="0">
                <a:effectLst/>
              </a:rPr>
              <a:t> – Verified functionality for confidence in daily use</a:t>
            </a:r>
          </a:p>
          <a:p>
            <a:pPr>
              <a:buNone/>
            </a:pPr>
            <a:r>
              <a:rPr lang="en-US" sz="1800" b="1" dirty="0">
                <a:effectLst/>
              </a:rPr>
              <a:t>Outcome</a:t>
            </a:r>
            <a:endParaRPr lang="en-US" sz="18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Demonstrates </a:t>
            </a:r>
            <a:r>
              <a:rPr lang="en-US" sz="1800" b="1" dirty="0">
                <a:effectLst/>
              </a:rPr>
              <a:t>practical application of Python</a:t>
            </a:r>
            <a:r>
              <a:rPr lang="en-US" sz="1800" dirty="0">
                <a:effectLst/>
              </a:rPr>
              <a:t> for workflow automation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Enhances productivity through organized, searchable, and secure notes</a:t>
            </a:r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IN" sz="1800" b="1" dirty="0">
                <a:effectLst/>
              </a:rPr>
              <a:t>Planned Features</a:t>
            </a:r>
            <a:endParaRPr lang="en-IN" sz="18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</a:rPr>
              <a:t>Timestamps on Notes</a:t>
            </a:r>
            <a:r>
              <a:rPr lang="en-IN" sz="1800" dirty="0">
                <a:effectLst/>
              </a:rPr>
              <a:t> – Automatically record creation and update times for better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</a:rPr>
              <a:t>Export to PDF</a:t>
            </a:r>
            <a:r>
              <a:rPr lang="en-IN" sz="1800" dirty="0">
                <a:effectLst/>
              </a:rPr>
              <a:t> – Generate shareable, professional note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</a:rPr>
              <a:t>GUI Interface</a:t>
            </a:r>
            <a:r>
              <a:rPr lang="en-IN" sz="1800" dirty="0">
                <a:effectLst/>
              </a:rPr>
              <a:t> – User‑friendly front end via </a:t>
            </a:r>
            <a:r>
              <a:rPr lang="en-IN" sz="1800" b="1" dirty="0" err="1">
                <a:effectLst/>
              </a:rPr>
              <a:t>Tkinter</a:t>
            </a:r>
            <a:r>
              <a:rPr lang="en-IN" sz="1800" dirty="0">
                <a:effectLst/>
              </a:rPr>
              <a:t> (desktop) or </a:t>
            </a:r>
            <a:r>
              <a:rPr lang="en-IN" sz="1800" b="1" dirty="0">
                <a:effectLst/>
              </a:rPr>
              <a:t>Flask</a:t>
            </a:r>
            <a:r>
              <a:rPr lang="en-IN" sz="1800" dirty="0">
                <a:effectLst/>
              </a:rPr>
              <a:t> (web)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</a:rPr>
              <a:t>Cloud Integration</a:t>
            </a:r>
            <a:r>
              <a:rPr lang="en-IN" sz="1800" dirty="0">
                <a:effectLst/>
              </a:rPr>
              <a:t> – Sync and access notes anywhere using </a:t>
            </a:r>
            <a:r>
              <a:rPr lang="en-IN" sz="1800" b="1" dirty="0">
                <a:effectLst/>
              </a:rPr>
              <a:t>Azure Functions</a:t>
            </a:r>
            <a:endParaRPr lang="en-IN" sz="18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</a:rPr>
              <a:t>Copilot Integration</a:t>
            </a:r>
            <a:r>
              <a:rPr lang="en-IN" sz="1800" dirty="0">
                <a:effectLst/>
              </a:rPr>
              <a:t> – Smart suggestions to improve note organization and productivity</a:t>
            </a:r>
          </a:p>
          <a:p>
            <a:pPr>
              <a:buNone/>
            </a:pPr>
            <a:r>
              <a:rPr lang="en-IN" sz="1800" b="1" dirty="0">
                <a:effectLst/>
              </a:rPr>
              <a:t>Impact</a:t>
            </a:r>
            <a:endParaRPr lang="en-IN" sz="18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</a:rPr>
              <a:t>Enhances usability with multiple interfaces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</a:rPr>
              <a:t>Enables portability and sharing of notes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</a:rPr>
              <a:t>Provides intelligent assistance for smarter workflows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</a:rPr>
              <a:t>Scales from personal use to cloud‑connected productivity</a:t>
            </a:r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1CC0223-DAF0-DE6C-855C-8D49DC1B10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6474" y="1544427"/>
            <a:ext cx="1057212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Documentation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(docs.python.org in Bing) – JSON encoder/decoder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(docs.python.org in Bing) – Miscellaneous operating system interfaces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unittest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(docs.python.org in Bing) – Unit testing framework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Repository –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Click here</a:t>
            </a:r>
            <a:r>
              <a:rPr lang="en-US" altLang="en-US" sz="1800" b="1" dirty="0">
                <a:latin typeface="Arial" panose="020B0604020202020204" pitchFamily="34" charset="0"/>
              </a:rPr>
              <a:t> [https://github.com/rajghosh06-dev/personal-notes-manager]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691</Words>
  <Application>Microsoft Office PowerPoint</Application>
  <PresentationFormat>Widescreen</PresentationFormat>
  <Paragraphs>110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RISHIT GHOSH</cp:lastModifiedBy>
  <cp:revision>115</cp:revision>
  <dcterms:created xsi:type="dcterms:W3CDTF">2024-05-21T11:55:07Z</dcterms:created>
  <dcterms:modified xsi:type="dcterms:W3CDTF">2026-01-20T14:21:26Z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